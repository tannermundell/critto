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E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188720"/>
            <a:ext cx="3566160" cy="3566160"/>
          </a:xfrm>
          <a:prstGeom prst="ellipse">
            <a:avLst/>
          </a:prstGeom>
          <a:solidFill>
            <a:srgbClr val="175049"/>
          </a:solidFill>
          <a:ln/>
        </p:spPr>
      </p:sp>
      <p:sp>
        <p:nvSpPr>
          <p:cNvPr id="3" name="Shape 1"/>
          <p:cNvSpPr/>
          <p:nvPr/>
        </p:nvSpPr>
        <p:spPr>
          <a:xfrm>
            <a:off x="10744200" y="-594360"/>
            <a:ext cx="2194560" cy="2194560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19456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DF7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Critto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777240" y="35661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FD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South Africa's wildlife from a photo.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77240" y="5669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6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AMD Developer Hackathon: ACT II  ·  Track 3 (Unicorn)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DF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Aidan Dean  ·  Tanner Mundell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A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Knowing a name isn't knowing the animal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66928" cy="566928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10312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2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17320" y="20574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 to identify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17320" y="2450592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Faced with an unfamiliar bird, mammal, or snake, most people have no idea what they're looking at.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429000"/>
            <a:ext cx="566928" cy="566928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4290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2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417320" y="3383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name isn't enough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417320" y="3776472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when you get a name, you don't learn anything about it — or remember it tomorrow.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754880"/>
            <a:ext cx="566928" cy="566928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7548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2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417320" y="47091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pulls you back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417320" y="5102352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reason to keep exploring, collecting, or caring about the wildlife around you.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want to understand the wildlife around them — not just tag it and move on.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A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Snap it. Know it. Collect it.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520440" cy="2834640"/>
          </a:xfrm>
          <a:prstGeom prst="roundRect">
            <a:avLst>
              <a:gd name="adj" fmla="val 3871"/>
            </a:avLst>
          </a:prstGeom>
          <a:solidFill>
            <a:srgbClr val="EEF4F0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2514600"/>
            <a:ext cx="566928" cy="566928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5146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2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60120" y="32461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Snap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60120" y="374904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or upload a photo of any bird, mammal, or reptile.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434840" y="2194560"/>
            <a:ext cx="3520440" cy="2834640"/>
          </a:xfrm>
          <a:prstGeom prst="roundRect">
            <a:avLst>
              <a:gd name="adj" fmla="val 3871"/>
            </a:avLst>
          </a:prstGeom>
          <a:solidFill>
            <a:srgbClr val="EEF4F0"/>
          </a:solidFill>
          <a:ln/>
        </p:spPr>
      </p:sp>
      <p:sp>
        <p:nvSpPr>
          <p:cNvPr id="10" name="Shape 8"/>
          <p:cNvSpPr/>
          <p:nvPr/>
        </p:nvSpPr>
        <p:spPr>
          <a:xfrm>
            <a:off x="4754880" y="2514600"/>
            <a:ext cx="566928" cy="566928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25146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2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754880" y="32461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754880" y="374904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species ID plus a rich, source-backed field-guide entry.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229600" y="2194560"/>
            <a:ext cx="3520440" cy="2834640"/>
          </a:xfrm>
          <a:prstGeom prst="roundRect">
            <a:avLst>
              <a:gd name="adj" fmla="val 3871"/>
            </a:avLst>
          </a:prstGeom>
          <a:solidFill>
            <a:srgbClr val="EEF4F0"/>
          </a:solidFill>
          <a:ln/>
        </p:spPr>
      </p:sp>
      <p:sp>
        <p:nvSpPr>
          <p:cNvPr id="15" name="Shape 13"/>
          <p:cNvSpPr/>
          <p:nvPr/>
        </p:nvSpPr>
        <p:spPr>
          <a:xfrm>
            <a:off x="8549640" y="2514600"/>
            <a:ext cx="566928" cy="566928"/>
          </a:xfrm>
          <a:prstGeom prst="ellipse">
            <a:avLst/>
          </a:prstGeom>
          <a:solidFill>
            <a:srgbClr val="9FD6C6"/>
          </a:solidFill>
          <a:ln/>
        </p:spPr>
      </p:sp>
      <p:sp>
        <p:nvSpPr>
          <p:cNvPr id="16" name="Text 14"/>
          <p:cNvSpPr/>
          <p:nvPr/>
        </p:nvSpPr>
        <p:spPr>
          <a:xfrm>
            <a:off x="8549640" y="25146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2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549640" y="32461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549640" y="374904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 the card, grow your collection, chase coins and fill your journal.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0080" y="53949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75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South African field guide in your pocket — that turns getting outside into a game.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A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photo, a full field guide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2514600" cy="1737360"/>
          </a:xfrm>
          <a:prstGeom prst="roundRect">
            <a:avLst>
              <a:gd name="adj" fmla="val 6316"/>
            </a:avLst>
          </a:prstGeom>
          <a:solidFill>
            <a:srgbClr val="EEF4F0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377440"/>
            <a:ext cx="2331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5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75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(Lovable)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108960" y="2377440"/>
            <a:ext cx="457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0A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3520440" y="2377440"/>
            <a:ext cx="2514600" cy="1737360"/>
          </a:xfrm>
          <a:prstGeom prst="roundRect">
            <a:avLst>
              <a:gd name="adj" fmla="val 6316"/>
            </a:avLst>
          </a:prstGeom>
          <a:solidFill>
            <a:srgbClr val="EEF4F0"/>
          </a:solidFill>
          <a:ln/>
        </p:spPr>
      </p:sp>
      <p:sp>
        <p:nvSpPr>
          <p:cNvPr id="8" name="Text 6"/>
          <p:cNvSpPr/>
          <p:nvPr/>
        </p:nvSpPr>
        <p:spPr>
          <a:xfrm>
            <a:off x="3611880" y="2377440"/>
            <a:ext cx="2331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5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75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(auth · data · photos)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89320" y="2377440"/>
            <a:ext cx="457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0A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6400800" y="2377440"/>
            <a:ext cx="2514600" cy="1737360"/>
          </a:xfrm>
          <a:prstGeom prst="roundRect">
            <a:avLst>
              <a:gd name="adj" fmla="val 6316"/>
            </a:avLst>
          </a:prstGeom>
          <a:solidFill>
            <a:srgbClr val="EEF4F0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2377440"/>
            <a:ext cx="2331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5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API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75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(Fireworks AI)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869680" y="2377440"/>
            <a:ext cx="457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0A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281160" y="2377440"/>
            <a:ext cx="2514600" cy="1737360"/>
          </a:xfrm>
          <a:prstGeom prst="roundRect">
            <a:avLst>
              <a:gd name="adj" fmla="val 6316"/>
            </a:avLst>
          </a:prstGeom>
          <a:solidFill>
            <a:srgbClr val="EEF4F0"/>
          </a:solidFill>
          <a:ln/>
        </p:spPr>
      </p:sp>
      <p:sp>
        <p:nvSpPr>
          <p:cNvPr id="14" name="Text 12"/>
          <p:cNvSpPr/>
          <p:nvPr/>
        </p:nvSpPr>
        <p:spPr>
          <a:xfrm>
            <a:off x="9372600" y="2377440"/>
            <a:ext cx="2331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5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75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+ field guide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4663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 and field-guide content are generated on demand and grounded in real sources (Wikipedia + IUCN), with citations.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2E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188720"/>
            <a:ext cx="3566160" cy="3566160"/>
          </a:xfrm>
          <a:prstGeom prst="ellipse">
            <a:avLst/>
          </a:prstGeom>
          <a:solidFill>
            <a:srgbClr val="175049"/>
          </a:solidFill>
          <a:ln/>
        </p:spPr>
      </p:sp>
      <p:sp>
        <p:nvSpPr>
          <p:cNvPr id="3" name="Shape 1"/>
          <p:cNvSpPr/>
          <p:nvPr/>
        </p:nvSpPr>
        <p:spPr>
          <a:xfrm>
            <a:off x="10744200" y="-594360"/>
            <a:ext cx="2194560" cy="2194560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6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OF AMD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DF7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on AMD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5257800" cy="2743200"/>
          </a:xfrm>
          <a:prstGeom prst="roundRect">
            <a:avLst>
              <a:gd name="adj" fmla="val 4000"/>
            </a:avLst>
          </a:prstGeom>
          <a:solidFill>
            <a:srgbClr val="175049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46888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6C45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Inference via Fireworks AI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60120" y="333756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DF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endpoints call Minimax M3 on Fireworks AI — AMD's inference partner, accessed through the AMD AI Developer Program and powered by AMD Instinct GPUs.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63640" y="2194560"/>
            <a:ext cx="5257800" cy="2743200"/>
          </a:xfrm>
          <a:prstGeom prst="roundRect">
            <a:avLst>
              <a:gd name="adj" fmla="val 4000"/>
            </a:avLst>
          </a:prstGeom>
          <a:solidFill>
            <a:srgbClr val="175049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246888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6C45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BioCLIP on AMD Instinct (ROCm)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583680" y="333756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DF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specialised classifier is validated directly on AMD Instinct GPUs via ROCm — 99.95% on a test image. The high-accuracy vision path.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52578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FD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AMD on two fronts: our classifier on AMD Instinct (ROCm), and inference via Fireworks AI — AMD's partner.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A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recognition. Grounded content.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2514600" cy="2011680"/>
          </a:xfrm>
          <a:prstGeom prst="roundRect">
            <a:avLst>
              <a:gd name="adj" fmla="val 5455"/>
            </a:avLst>
          </a:prstGeom>
          <a:solidFill>
            <a:srgbClr val="EEF4F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46888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99.95%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34290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BioCLIP on AMD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Instinct (test)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520440" y="2194560"/>
            <a:ext cx="2514600" cy="2011680"/>
          </a:xfrm>
          <a:prstGeom prst="roundRect">
            <a:avLst>
              <a:gd name="adj" fmla="val 5455"/>
            </a:avLst>
          </a:prstGeom>
          <a:solidFill>
            <a:srgbClr val="EEF4F0"/>
          </a:solidFill>
          <a:ln/>
        </p:spPr>
      </p:sp>
      <p:sp>
        <p:nvSpPr>
          <p:cNvPr id="8" name="Text 6"/>
          <p:cNvSpPr/>
          <p:nvPr/>
        </p:nvSpPr>
        <p:spPr>
          <a:xfrm>
            <a:off x="3520440" y="246888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3520440" y="34290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SA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2514600" cy="2011680"/>
          </a:xfrm>
          <a:prstGeom prst="roundRect">
            <a:avLst>
              <a:gd name="adj" fmla="val 5455"/>
            </a:avLst>
          </a:prstGeom>
          <a:solidFill>
            <a:srgbClr val="EEF4F0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246888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6400800" y="34290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classes: birds,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mammals, reptiles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281160" y="2194560"/>
            <a:ext cx="2514600" cy="2011680"/>
          </a:xfrm>
          <a:prstGeom prst="roundRect">
            <a:avLst>
              <a:gd name="adj" fmla="val 5455"/>
            </a:avLst>
          </a:prstGeom>
          <a:solidFill>
            <a:srgbClr val="EEF4F0"/>
          </a:solidFill>
          <a:ln/>
        </p:spPr>
      </p:sp>
      <p:sp>
        <p:nvSpPr>
          <p:cNvPr id="14" name="Text 12"/>
          <p:cNvSpPr/>
          <p:nvPr/>
        </p:nvSpPr>
        <p:spPr>
          <a:xfrm>
            <a:off x="9281160" y="246888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9281160" y="34290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AMD platforms: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Instinct + Fireworks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4846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Field-guide entries are grounded in Wikipedia + IUCN and cite their sources — no invented facts.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A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DIFFERENCE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go deeper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5212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name is just the start.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3108960"/>
            <a:ext cx="51206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Critto helps you actually learn about the wildlife around you — and keeps you coming back to discover more.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0" y="2240280"/>
            <a:ext cx="411480" cy="411480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7" name="Text 5"/>
          <p:cNvSpPr/>
          <p:nvPr/>
        </p:nvSpPr>
        <p:spPr>
          <a:xfrm>
            <a:off x="7040880" y="2167128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Rich, cited field guides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040880" y="2587752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Habitat, diet, range, size, conservation — from real sources.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566160"/>
            <a:ext cx="411480" cy="411480"/>
          </a:xfrm>
          <a:prstGeom prst="ellipse">
            <a:avLst/>
          </a:prstGeom>
          <a:solidFill>
            <a:srgbClr val="9FD6C6"/>
          </a:solidFill>
          <a:ln/>
        </p:spPr>
      </p:sp>
      <p:sp>
        <p:nvSpPr>
          <p:cNvPr id="10" name="Text 8"/>
          <p:cNvSpPr/>
          <p:nvPr/>
        </p:nvSpPr>
        <p:spPr>
          <a:xfrm>
            <a:off x="7040880" y="3493008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 as you collect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040880" y="3913632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Rarity, sets, and your Journal make it stick.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0" y="4892040"/>
            <a:ext cx="411480" cy="411480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0" y="4818888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Conservation built in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040880" y="5239512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what's threatened and why it matters.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A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collection game with a conservation heart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5257800" cy="1737360"/>
          </a:xfrm>
          <a:prstGeom prst="roundRect">
            <a:avLst>
              <a:gd name="adj" fmla="val 6316"/>
            </a:avLst>
          </a:prstGeom>
          <a:solidFill>
            <a:srgbClr val="EEF4F0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468880"/>
            <a:ext cx="457200" cy="457200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6" name="Text 4"/>
          <p:cNvSpPr/>
          <p:nvPr/>
        </p:nvSpPr>
        <p:spPr>
          <a:xfrm>
            <a:off x="1554480" y="2404872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Rarity cards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554480" y="2862072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→ Legendary, weighted by how rare and threatened a species is.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63640" y="2148840"/>
            <a:ext cx="5257800" cy="1737360"/>
          </a:xfrm>
          <a:prstGeom prst="roundRect">
            <a:avLst>
              <a:gd name="adj" fmla="val 6316"/>
            </a:avLst>
          </a:prstGeom>
          <a:solidFill>
            <a:srgbClr val="EEF4F0"/>
          </a:solidFill>
          <a:ln/>
        </p:spPr>
      </p:sp>
      <p:sp>
        <p:nvSpPr>
          <p:cNvPr id="9" name="Shape 7"/>
          <p:cNvSpPr/>
          <p:nvPr/>
        </p:nvSpPr>
        <p:spPr>
          <a:xfrm>
            <a:off x="6537960" y="2468880"/>
            <a:ext cx="457200" cy="457200"/>
          </a:xfrm>
          <a:prstGeom prst="ellipse">
            <a:avLst/>
          </a:prstGeom>
          <a:solidFill>
            <a:srgbClr val="9FD6C6"/>
          </a:solidFill>
          <a:ln/>
        </p:spPr>
      </p:sp>
      <p:sp>
        <p:nvSpPr>
          <p:cNvPr id="10" name="Text 8"/>
          <p:cNvSpPr/>
          <p:nvPr/>
        </p:nvSpPr>
        <p:spPr>
          <a:xfrm>
            <a:off x="7178040" y="2404872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Coins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178040" y="2862072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sets — the Big Five, Endangered Guardians, class masters.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114800"/>
            <a:ext cx="5257800" cy="1737360"/>
          </a:xfrm>
          <a:prstGeom prst="roundRect">
            <a:avLst>
              <a:gd name="adj" fmla="val 6316"/>
            </a:avLst>
          </a:prstGeom>
          <a:solidFill>
            <a:srgbClr val="EEF4F0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4434840"/>
            <a:ext cx="457200" cy="457200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14" name="Text 12"/>
          <p:cNvSpPr/>
          <p:nvPr/>
        </p:nvSpPr>
        <p:spPr>
          <a:xfrm>
            <a:off x="1554480" y="4370832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Journal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554480" y="4828032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running record of every encounter, synced across devices.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63640" y="4114800"/>
            <a:ext cx="5257800" cy="1737360"/>
          </a:xfrm>
          <a:prstGeom prst="roundRect">
            <a:avLst>
              <a:gd name="adj" fmla="val 6316"/>
            </a:avLst>
          </a:prstGeom>
          <a:solidFill>
            <a:srgbClr val="EEF4F0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7960" y="4434840"/>
            <a:ext cx="457200" cy="457200"/>
          </a:xfrm>
          <a:prstGeom prst="ellipse">
            <a:avLst/>
          </a:prstGeom>
          <a:solidFill>
            <a:srgbClr val="9FD6C6"/>
          </a:solidFill>
          <a:ln/>
        </p:spPr>
      </p:sp>
      <p:sp>
        <p:nvSpPr>
          <p:cNvPr id="18" name="Text 16"/>
          <p:cNvSpPr/>
          <p:nvPr/>
        </p:nvSpPr>
        <p:spPr>
          <a:xfrm>
            <a:off x="7178040" y="4370832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Read-aloud guide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178040" y="4828032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to any species' field-guide entry, hands-free.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6172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Rarity rewards the rare and the threatened — turning spotting into stewardship.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A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it's for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2514600" cy="2743200"/>
          </a:xfrm>
          <a:prstGeom prst="roundRect">
            <a:avLst>
              <a:gd name="adj" fmla="val 4364"/>
            </a:avLst>
          </a:prstGeom>
          <a:solidFill>
            <a:srgbClr val="EEF4F0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468880"/>
            <a:ext cx="2148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Tourists &amp; safari-goers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352044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Millions visit SA for wildlife each year.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520440" y="2194560"/>
            <a:ext cx="2514600" cy="2743200"/>
          </a:xfrm>
          <a:prstGeom prst="roundRect">
            <a:avLst>
              <a:gd name="adj" fmla="val 4364"/>
            </a:avLst>
          </a:prstGeom>
          <a:solidFill>
            <a:srgbClr val="EEF4F0"/>
          </a:solidFill>
          <a:ln/>
        </p:spPr>
      </p:sp>
      <p:sp>
        <p:nvSpPr>
          <p:cNvPr id="8" name="Text 6"/>
          <p:cNvSpPr/>
          <p:nvPr/>
        </p:nvSpPr>
        <p:spPr>
          <a:xfrm>
            <a:off x="3749040" y="2468880"/>
            <a:ext cx="2148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Birders &amp; nature lovers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749040" y="352044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passionate, list-keeping community.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2514600" cy="2743200"/>
          </a:xfrm>
          <a:prstGeom prst="roundRect">
            <a:avLst>
              <a:gd name="adj" fmla="val 4364"/>
            </a:avLst>
          </a:prstGeom>
          <a:solidFill>
            <a:srgbClr val="EEF4F0"/>
          </a:solidFill>
          <a:ln/>
        </p:spPr>
      </p:sp>
      <p:sp>
        <p:nvSpPr>
          <p:cNvPr id="11" name="Text 9"/>
          <p:cNvSpPr/>
          <p:nvPr/>
        </p:nvSpPr>
        <p:spPr>
          <a:xfrm>
            <a:off x="6629400" y="2468880"/>
            <a:ext cx="2148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Schools &amp; education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629400" y="352044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Hands-on, local biodiversity learning.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9281160" y="2194560"/>
            <a:ext cx="2514600" cy="2743200"/>
          </a:xfrm>
          <a:prstGeom prst="roundRect">
            <a:avLst>
              <a:gd name="adj" fmla="val 4364"/>
            </a:avLst>
          </a:prstGeom>
          <a:solidFill>
            <a:srgbClr val="EEF4F0"/>
          </a:solidFill>
          <a:ln/>
        </p:spPr>
      </p:sp>
      <p:sp>
        <p:nvSpPr>
          <p:cNvPr id="14" name="Text 12"/>
          <p:cNvSpPr/>
          <p:nvPr/>
        </p:nvSpPr>
        <p:spPr>
          <a:xfrm>
            <a:off x="9509760" y="2468880"/>
            <a:ext cx="2148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Conservation &amp; citizen science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9509760" y="352044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Sightings that build awareness and data.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53035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75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 Africa draws millions of wildlife tourists a year — Critto is their pocket guide, and a gateway to local conservation.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A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Critto goes next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743200"/>
            <a:ext cx="566928" cy="566928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743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2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34290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384048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 image ID + collection — live now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11880" y="2743200"/>
            <a:ext cx="566928" cy="566928"/>
          </a:xfrm>
          <a:prstGeom prst="ellipse">
            <a:avLst/>
          </a:prstGeom>
          <a:solidFill>
            <a:srgbClr val="9FD6C6"/>
          </a:solidFill>
          <a:ln/>
        </p:spPr>
      </p:sp>
      <p:sp>
        <p:nvSpPr>
          <p:cNvPr id="9" name="Text 7"/>
          <p:cNvSpPr/>
          <p:nvPr/>
        </p:nvSpPr>
        <p:spPr>
          <a:xfrm>
            <a:off x="3611880" y="2743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2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337560" y="34290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337560" y="384048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 ID — identify birds by their call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0" y="2743200"/>
            <a:ext cx="566928" cy="566928"/>
          </a:xfrm>
          <a:prstGeom prst="ellipse">
            <a:avLst/>
          </a:prstGeom>
          <a:solidFill>
            <a:srgbClr val="9FD6C6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0" y="2743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2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126480" y="34290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126480" y="384048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SA — more species and regions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189720" y="2743200"/>
            <a:ext cx="566928" cy="566928"/>
          </a:xfrm>
          <a:prstGeom prst="ellipse">
            <a:avLst/>
          </a:prstGeom>
          <a:solidFill>
            <a:srgbClr val="9FD6C6"/>
          </a:solidFill>
          <a:ln/>
        </p:spPr>
      </p:sp>
      <p:sp>
        <p:nvSpPr>
          <p:cNvPr id="17" name="Text 15"/>
          <p:cNvSpPr/>
          <p:nvPr/>
        </p:nvSpPr>
        <p:spPr>
          <a:xfrm>
            <a:off x="9189720" y="2743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2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915400" y="34290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Later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915400" y="384048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play + verified sightings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2E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188720"/>
            <a:ext cx="3566160" cy="3566160"/>
          </a:xfrm>
          <a:prstGeom prst="ellipse">
            <a:avLst/>
          </a:prstGeom>
          <a:solidFill>
            <a:srgbClr val="175049"/>
          </a:solidFill>
          <a:ln/>
        </p:spPr>
      </p:sp>
      <p:sp>
        <p:nvSpPr>
          <p:cNvPr id="3" name="Shape 1"/>
          <p:cNvSpPr/>
          <p:nvPr/>
        </p:nvSpPr>
        <p:spPr>
          <a:xfrm>
            <a:off x="10744200" y="-594360"/>
            <a:ext cx="2194560" cy="2194560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6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DF7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for yourself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FD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live — try it right now.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918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DF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app: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749040"/>
            <a:ext cx="6400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6C45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critto.org</a:t>
            </a:r>
            <a:endParaRPr lang="en-US" sz="4400" dirty="0"/>
          </a:p>
        </p:txBody>
      </p:sp>
      <p:sp>
        <p:nvSpPr>
          <p:cNvPr id="9" name="Shape 7"/>
          <p:cNvSpPr/>
          <p:nvPr/>
        </p:nvSpPr>
        <p:spPr>
          <a:xfrm>
            <a:off x="8595360" y="2697480"/>
            <a:ext cx="2743200" cy="2743200"/>
          </a:xfrm>
          <a:prstGeom prst="roundRect">
            <a:avLst>
              <a:gd name="adj" fmla="val 4000"/>
            </a:avLst>
          </a:prstGeom>
          <a:solidFill>
            <a:srgbClr val="FDF7EA"/>
          </a:solidFill>
          <a:ln/>
        </p:spPr>
      </p:sp>
      <p:pic>
        <p:nvPicPr>
          <p:cNvPr id="10" name="Image 0" descr="critto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880360"/>
            <a:ext cx="2377440" cy="23774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503920" y="55321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D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to open critto.org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2E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188720"/>
            <a:ext cx="3566160" cy="3566160"/>
          </a:xfrm>
          <a:prstGeom prst="ellipse">
            <a:avLst/>
          </a:prstGeom>
          <a:solidFill>
            <a:srgbClr val="175049"/>
          </a:solidFill>
          <a:ln/>
        </p:spPr>
      </p:sp>
      <p:sp>
        <p:nvSpPr>
          <p:cNvPr id="3" name="Shape 1"/>
          <p:cNvSpPr/>
          <p:nvPr/>
        </p:nvSpPr>
        <p:spPr>
          <a:xfrm>
            <a:off x="10744200" y="-594360"/>
            <a:ext cx="2194560" cy="2194560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DF7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Critto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777240" y="2606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9FD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Reconnecting people with the wild — one photo at a time.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77240" y="4023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DF7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Aidan Dean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43891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D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UX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114800" y="4023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DF7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Tanner Mundell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114800" y="43891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D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AI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58521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6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AMD Developer Hackathon: ACT II  ·  Track 3 (Unicorn)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2026-07-10T14:11:58Z</dcterms:created>
  <dcterms:modified xsi:type="dcterms:W3CDTF">2026-07-10T14:11:58Z</dcterms:modified>
</cp:coreProperties>
</file>